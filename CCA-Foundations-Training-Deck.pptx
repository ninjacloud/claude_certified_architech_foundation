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2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61d7033-a62b-35c9-d2a2-12350ddc262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odule 1: Agentic Architecture &amp; Orchestration" id="{a15a4018-d5e3-1428-7b58-e5cc278bea49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Module 2: Tool Design &amp; MCP Integration" id="{5b0fcfc7-8e0c-d4ca-5fb4-11b3a0516ab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Module 3: Claude Code Configuration &amp; Workflows" id="{e5b36674-ff81-1ba6-ee1d-b6327e35c12e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Module 4: Prompt Engineering &amp; Structured Output" id="{b451bb72-2111-dec6-506c-6922efb053ec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Module 5: Context Management &amp; Reliability" id="{6070210d-646b-fc48-b2d6-f0fde9c931b2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Wrap-up and exam preparation" id="{08833e3e-4ffe-d96c-70b7-05d6194dbf05}">
          <p14:sldIdLst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1B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1B18"/>
                </a:solidFill>
                <a:latin typeface="+mn-lt"/>
              </a:rPr>
              <a:t>Share of exam by domain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 weight (%)</c:v>
                </c:pt>
              </c:strCache>
            </c:strRef>
          </c:tx>
          <c:spPr>
            <a:solidFill>
              <a:srgbClr val="C455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B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55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8A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6F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A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Agentic Architecture &amp; Orchestration</c:v>
                  </c:pt>
                  <c:pt idx="1">
                    <c:v>Claude Code Configuration &amp; Workflows</c:v>
                  </c:pt>
                  <c:pt idx="2">
                    <c:v>Prompt Engineering &amp; Structured Output</c:v>
                  </c:pt>
                  <c:pt idx="3">
                    <c:v>Tool Design &amp; MCP Integration</c:v>
                  </c:pt>
                  <c:pt idx="4">
                    <c:v>Context Management &amp; Reliability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20</c:v>
                </c:pt>
                <c:pt idx="2">
                  <c:v>20</c:v>
                </c:pt>
                <c:pt idx="3">
                  <c:v>18</c:v>
                </c:pt>
                <c:pt idx="4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1B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B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1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B18"/>
                </a:solidFill>
                <a:latin typeface="+mn-lt"/>
              </a:rPr>
              <a:t>Input price relative to base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input price</c:v>
                </c:pt>
              </c:strCache>
            </c:strRef>
          </c:tx>
          <c:spPr>
            <a:solidFill>
              <a:srgbClr val="8A8178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B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1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55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8A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 input</c:v>
                  </c:pt>
                  <c:pt idx="1">
                    <c:v>Cache write (5 min)</c:v>
                  </c:pt>
                  <c:pt idx="2">
                    <c:v>Cache read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1.25</c:v>
                </c:pt>
                <c:pt idx="2">
                  <c:v>0.1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1B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Set expectations: this is an architecture course, not an intro to Claude. Everything maps to the five exam domains of the CCA – Foundations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is labelled Beginner on the course page but the prerequisite experience is advanced: 6+ months building production systems on Claude. Say this out loud so nobody is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prerequisites with a quick show of hands: who has shipped something on the Claude API, Agent SDK or MCP?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code carries through the deck: terracotta = Module 1, teal = Module 2, indigo = Module 3, olive = Module 4, amber =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come from the public exam guides. Domain 1 alone is over a quarter of the exam; Claude Code, prompting and context together are 55%. Study time should mirror the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pacing. Day 3 is deliberately lighter so there is time for exam practice and lab catch-up. Adjust to cohort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list is drawn from public exam guides; confirm against the official exam guide before the course. The consistent message: the exam favours the simplest fix that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domain. Spend the most time here. Two labs follow the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is a loop around the model. Walk the diagram: observe input, Claude thinks and either calls a tool (stop_reason tool_use) or finishes (end_turn). Tool results go back in as the next observation.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model never executes anything. It requests a tool call; your code runs it and returns a tool_result. Control flow decisions use stop_reason, never string-matching on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composable patterns. Start with a single call, then a chain, and only add agents when the task shape demands it. The exam favours the simplest option that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exam point: a subagent does not inherit the coordinator's history. Everything it needs must be in the prompt you give it. Return condensed, structured findings, not transcripts. AgentDefinition in the Agent SDK; .claude/agents in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Dependent calls are sequential across turns; independent calls can be emitted together in one turn. Return every tool_result for a turn in a single user message, matched by tool_use_id. tool_choice shapes what Claude may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in depth: each layer catches what the previous one misses. Then the reliability patterns that keep a long-running loop safe. Stress which layers are deterministic (code) versus probabilistic (prompt).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run your code at fixed points in the loop, in Claude Code and the Agent SDK. They are how you guarantee behaviour that a prompt can only request. Prompts suggest, hooks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SDK packages the agent loop plus built-in tools, so you configure instead of rebuilding Claude Code's engine. Walk each satellite: tools, MCP, subagents, hooks, permissions,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only. Detailed lab guides come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are how Claude touches the world. Poor tool descriptions are the most common root cause of agent misbehaviour.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chooses tools almost entirely from the name, description and schema. The description is the most important lever: say what it does, when to use it, when not to, and what it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diagnostic checklist in the lab. When an agent picks the wrong tool, fix the descriptions before touching the prompt or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tool_result can carry is_error: true. The other fields are a design convention: give the agent enough to choose between retry, fix, escalate or stop. Never return an empty success for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standardises how an AI application connects to tools and data. One host runs one client per server. Servers expose three primitives: tools (model-controlled), resources (app-controlled), prompts (user-controlled).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older HTTP+SSE transport was replaced by Streamable HTTP in the 2025-03-26 spec revision. For new remote servers, choose Streamable HTTP. stdio remains the right answer for local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OAuth flow top to bottom, then the checklist. Key exam ideas: least privilege, never pass through user tokens to downstream APIs, treat tool results as untrusted input (prompt injection), keep secrets out of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scope (.mcp.json) is committed and shared; user scope is personal across projects; local scope is private to you for one project. Environment variable expansion keeps secrets out of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only. Detailed lab guides come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is also an exam scenario twice: code generation and CI. Heavy on configuration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 are combined into context. Broader files set org and personal defaults; the project file is versioned and shared; subdirectory files load when Claude works in that folder. Use @imports and .claude/rules to keep files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is persistent context, not enforcement. If a rule must never be broken, use a hook or permission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are prompts you invoke. Skills are capabilities Claude loads when the description matches; context: fork runs them in an isolated subagent. Subagents have their own context, tools and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layers override lower ones; deny rules beat allow rules. Managed policy lets an organisation enforce settings individuals cannot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mode is read-only exploration: Claude proposes before it edits. Use it for multi-file, unfamiliar or ambiguous work; skip it for small, clear changes. Refine with concrete examples and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trap: pipelines must run Claude Code non-interactively with -p. Restrict tools, cap turns, pull secrets from the CI secret store, and use JSON output so the next step can gate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Batches trade latency for cost: roughly half price, results within 24 hours, single-shot requests only. Anything that blocks a person or a pipeline step stays synchronous.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only. Detailed lab guides come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 of the module: guarantees come from code and schemas, not from asking nicely.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Climb the ladder only as far as the failure cost requires. Note that a schema guarantees shape, not truth: still validate semantics and handle missing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Nullable fields are the single best defence against hallucinated values. Enums with an 'other' escape hatch handle open-ended categories. A confidence field lets you route uncertain extractions for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teach format and edge-case handling better than instructions alone. Include a 'nothing found' example so Claude learns that null is acceptable. Wrap examples and inputs in XML tags to keep them separate from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 twice: schema (shape) and business rules (meaning). On failure, send back the specific errors with the failed output. Cap retries and route what is left to a human. Retries fix slips, not missing source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core exam theme. Prompts are probabilistic. If a failure has financial, legal or safety cost, enforce in code. Example: block issue_refund unless the customer is verified and the amount is under the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only. Detailed lab guide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Smallest domain but the easiest marks if the mechanics are clear. Caching and compaction come up in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is illustrative, not to scale. The point: everything in the window is re-sent and re-billed each turn, tool results tend to dominate, and quality can degrade well before the window is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working model: four levers applied in a loop. CALM is the exam's name for deliberate, context-aware management; align the wording of each lever with the official courseware before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cache matches an identical prefix, built in the order tools, system, messages. Put stable content first and dynamic content last. Reads cost about a tenth of base input; writes cost a premium. Default lifetime is 5 minutes, with a longer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 before quality degrades, not after the call fails. A good summary keeps decisions, open tasks and key facts. Context editing clears stale tool results without a summary. Notes files or a memory tool persist facts outside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before you send, read usage after you receive, and act on thresholds. Rough rule: a token is around 3 to 4 English characters; code and other languages vary, so measure rather than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handling failures. Right: handling uncertainty. Self-reported confidence is not calibrated by default; measure it against a labelled set, then set routing thresholds from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only. Detailed lab guide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maps to a pattern seen across all five domains. Rehearse with a scenario: ask the group which constraint matters most before looking at the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Anti-patterns frequently appear as distractor answers. Use this as the revision slide before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labs, about 70% of the course time. Next step is to build the lab guides, starter code, test data and solutions for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7665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Claude Certified Architect – Foundations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INSTRUCTOR-LED TRAINING  ·  3 DAYS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Claude Certified Architect – Foundations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Designing production-grade agentic applications with Claude, MCP and Claude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V="1">
            <a:off x="9692640" y="1371600"/>
            <a:ext cx="0" cy="20116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692640" y="2331720"/>
            <a:ext cx="1600200" cy="10515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383280"/>
            <a:ext cx="1463040" cy="1188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229600" y="3383280"/>
            <a:ext cx="1463040" cy="1463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8138160" y="2103120"/>
            <a:ext cx="1554480" cy="1280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1005840"/>
            <a:ext cx="731520" cy="7315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1965960"/>
            <a:ext cx="731520" cy="7315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20624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480560"/>
            <a:ext cx="731520" cy="7315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737360"/>
            <a:ext cx="731520" cy="7315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2651760"/>
            <a:ext cx="1463040" cy="146304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course at a glance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146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26014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78892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days of instructor-led training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78708" y="1463040"/>
            <a:ext cx="260146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78708" y="1645920"/>
            <a:ext cx="26014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3607308" y="278892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hands-on: labs, design exercises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08776" y="1463040"/>
            <a:ext cx="260146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8776" y="1645920"/>
            <a:ext cx="26014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6437376" y="278892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exam domains covered end to end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038844" y="1463040"/>
            <a:ext cx="260146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38844" y="1645920"/>
            <a:ext cx="26014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400" dirty="0"/>
          </a:p>
        </p:txBody>
      </p:sp>
      <p:sp>
        <p:nvSpPr>
          <p:cNvPr id="15" name="Text 12"/>
          <p:cNvSpPr txBox="1"/>
          <p:nvPr/>
        </p:nvSpPr>
        <p:spPr>
          <a:xfrm>
            <a:off x="9267444" y="278892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labs across the five modules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540867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4005072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program 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443984"/>
            <a:ext cx="50063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advanced program for solution architects and senior engineers designing production-grade, agentic applications powered by Claude. Aligned to Anthropic's official CCA – Foundations certification.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1636" y="3840480"/>
            <a:ext cx="540867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32804" y="4005072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it is delivered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2804" y="4443984"/>
            <a:ext cx="50063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Architecture and design labs throughout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Demonstrations and guided walkthroughs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module ends with takeaways and exam traps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should attend, and what you need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 audience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08676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122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1929384"/>
            <a:ext cx="44577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Solution architects designing production-grade Claude 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5408676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136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16736" y="2953512"/>
            <a:ext cx="44577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engineers and developers with 6+ months building on Claude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922776"/>
            <a:ext cx="5408676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160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16736" y="3977640"/>
            <a:ext cx="44577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leads responsible for agentic system design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946904"/>
            <a:ext cx="5408676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51846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16736" y="5001768"/>
            <a:ext cx="44577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engineers and technical PMs managing architectural trade-offs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31636" y="1874520"/>
            <a:ext cx="5408676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0299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99732" y="1929384"/>
            <a:ext cx="44577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6+ months hands-on production experience with Claude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31636" y="2715768"/>
            <a:ext cx="5408676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4516" y="28712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99732" y="2770632"/>
            <a:ext cx="44577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Working knowledge of the Claude API, Agent SDK and MCP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31636" y="3557016"/>
            <a:ext cx="5408676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71246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99732" y="3611880"/>
            <a:ext cx="44577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Familiarity with Claude Code and modern development workflows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31636" y="4398264"/>
            <a:ext cx="5408676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4516" y="45537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99732" y="4453128"/>
            <a:ext cx="44577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Comfort with JSON, APIs and application architecture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31636" y="5239512"/>
            <a:ext cx="5408676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14516" y="5394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99732" y="5294376"/>
            <a:ext cx="44577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Recommended: Developer – Foundations certification or equivalent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Course 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9613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316736" y="15179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end-to-end agentic architectures with Claude, MCP and the Agent SDK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22064" y="14630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04944" y="19613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90160" y="15179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reliability patterns and guardrails to agent loops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95488" y="14630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8368" y="19613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863584" y="15179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effective tool schemas and diagnose flawed ones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5615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16736" y="31181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 and secure production MCP deployments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22064" y="30632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04944" y="356158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90160" y="31181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Configure Claude Code: CLAUDE.md, hooks, permissions, slash commands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95488" y="30632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8368" y="356158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863584" y="31181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Integrate Claude Code into CI/CD workflows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6634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16178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316736" y="47183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Enforce structured output with schemas, validation and retries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322064" y="46634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4944" y="516178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90160" y="47183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Manage context windows, caching, compaction and token budgets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5488" y="4663440"/>
            <a:ext cx="354482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8368" y="5161788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863584" y="4718304"/>
            <a:ext cx="25938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Prepare for the Claude Certified Architect – Foundations exam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 blueprint: where the weight sits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138160" y="1463040"/>
            <a:ext cx="35021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321040" y="16002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9738360" y="16002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Agentic architecture is the single biggest domain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138160" y="3063240"/>
            <a:ext cx="35021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21040" y="32004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9738360" y="32004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Code + prompting + context combined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38160" y="4663440"/>
            <a:ext cx="35021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48006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480060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scenarios exist; 4 are drawn at random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Three-day agenda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48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 agents and tools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Module 1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Agentic Architecture &amp; Orchestration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Module 2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Tool Design &amp; MCP Integration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166360"/>
            <a:ext cx="308762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Labs 1–4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22064" y="141732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0664" y="160020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550664" y="2148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Configure, automate, constrain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50664" y="274320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Module 3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Claude Code Configuration &amp; Workflows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50664" y="384048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Module 4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Prompt Engineering &amp; Structured Output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50664" y="5166360"/>
            <a:ext cx="308762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Labs 5–7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95488" y="1417320"/>
            <a:ext cx="3544824" cy="4663440"/>
          </a:xfrm>
          <a:prstGeom prst="roundRect">
            <a:avLst>
              <a:gd name="adj" fmla="val 20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4088" y="160020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324088" y="2148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Scale, harden, certify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4088" y="274320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Module 5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Context Management &amp; Reliability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24088" y="3840480"/>
            <a:ext cx="3087624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Wrap-up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Exam strategy, anti-pattern review, practice scenarios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324088" y="5166360"/>
            <a:ext cx="3087624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 8 + exam practice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exam rewards architectural judgement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08676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81912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Format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20824"/>
            <a:ext cx="500634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Scenario-based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multiple choice: you pick the best design decision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4 of 6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production scenarios are drawn at random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720 / 1000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is the passing score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Tests decisions,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not definitions: plausible wrong answers are the norm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Recurring theme: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prefer the simplest fix that works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231636" y="141732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scenarios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1636" y="19659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4516" y="20894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926580" y="20208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support resolution agent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1636" y="26517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27752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926580" y="27066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Multi-agent research system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31636" y="33375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4516" y="3461004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926580" y="33924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generation with Claude Code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31636" y="40233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4516" y="41468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926580" y="40782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Developer productivity with the Agent SDK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31636" y="47091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4832604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926580" y="47640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Code for CI/CD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31636" y="5394960"/>
            <a:ext cx="5408676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14516" y="5518404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26580" y="5449824"/>
            <a:ext cx="45308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Structured data extraction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Agentic Architecture &amp; Orchestration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~27% of exam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IN THIS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87452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observe–think–act–respond loop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Orchestration patterns and subagent design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Tool-calling sequences and control flow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Guardrails and reliability patterns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Claude Agent SDK in production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Labs 1–2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agent loop: observe, think, act, respond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User goal, tool results, state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617720" y="15544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Think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Claude reasons and picks the next step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15544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Respond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Final answer to the user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352044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Your code runs the requested tool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2103120"/>
            <a:ext cx="11430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543800" y="2103120"/>
            <a:ext cx="11430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498080" y="1691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end_turn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0" cy="8686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17220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tool_use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 flipH="1">
            <a:off x="2011680" y="4069080"/>
            <a:ext cx="2606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2011680" y="2651760"/>
            <a:ext cx="0" cy="1417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219456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tool_result is appended to the history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354482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3446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16736" y="5084064"/>
            <a:ext cx="2593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 until stop_reason is not tool_use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22064" y="5029200"/>
            <a:ext cx="354482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04944" y="53446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90160" y="5084064"/>
            <a:ext cx="2593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cap iterations (max turns, budget)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95488" y="5029200"/>
            <a:ext cx="354482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8368" y="53446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863584" y="5084064"/>
            <a:ext cx="2593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history is re-sent each turn, so context grows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loop in code: your app owns control flow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675120" cy="4663440"/>
          </a:xfrm>
          <a:prstGeom prst="roundRect">
            <a:avLst>
              <a:gd name="adj" fmla="val 117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 "content": goal}]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turn in range(MAX_TURNS):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client.messages.create(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max_tokens=2048,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tools=TOOLS, messages=messages)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"assistant",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"content": resp.content})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resp.stop_reason != "tool_use":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         # end_turn: finished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[run_tool(b) for b in resp.content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if b.type == "tool_use"]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"user",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"content": results})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8080" y="1417320"/>
            <a:ext cx="41422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645920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end_turn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50876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is done: return the answer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2441448"/>
            <a:ext cx="41422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2670048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tool_use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2532888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tools, append tool_result, loop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3465576"/>
            <a:ext cx="41422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3694176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max_tokens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3557016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Output was cut off: handle, do not loop blindly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98080" y="4489704"/>
            <a:ext cx="41422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35240" y="4718304"/>
            <a:ext cx="1280160" cy="4572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Others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4581144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stop_sequence, pause_turn, refusal: handle explicitly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5532120"/>
            <a:ext cx="414223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Never parse Claude's text to decide whether to stop. Use stop_reason.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Orchestration patterns: pick the simplest that fits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072030" cy="416052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429000"/>
            <a:ext cx="1797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chaining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023360"/>
            <a:ext cx="17977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 steps; each output feeds the next. Predictable. Add gates between steps.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03550" y="1417320"/>
            <a:ext cx="2072030" cy="416052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40710" y="3429000"/>
            <a:ext cx="1797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940710" y="4023360"/>
            <a:ext cx="17977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Classify the input, then send it down a specialised path.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58461" y="1417320"/>
            <a:ext cx="2072030" cy="416052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95621" y="3429000"/>
            <a:ext cx="1797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Parallelization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95621" y="4023360"/>
            <a:ext cx="17977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Independent subtasks run at once, then results are merged.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3371" y="1417320"/>
            <a:ext cx="2072030" cy="416052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0531" y="3429000"/>
            <a:ext cx="1797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Orchestrator–workers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50531" y="4023360"/>
            <a:ext cx="17977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lead agent decomposes the task dynamically and delegates.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568282" y="1417320"/>
            <a:ext cx="2072030" cy="416052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05442" y="3429000"/>
            <a:ext cx="1797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Evaluator–optimizer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705442" y="4023360"/>
            <a:ext cx="17977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call produces, another critiques. Loop until criteria pass.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240280"/>
            <a:ext cx="41148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2240280"/>
            <a:ext cx="41148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057400" y="2240280"/>
            <a:ext cx="41148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97280" y="2414016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783080" y="2414016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940710" y="2240280"/>
            <a:ext cx="502920" cy="347472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083710" y="1691640"/>
            <a:ext cx="54864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 flipV="1">
            <a:off x="3443630" y="1865376"/>
            <a:ext cx="64008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4083710" y="2240280"/>
            <a:ext cx="54864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443630" y="2414016"/>
            <a:ext cx="6400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083710" y="2788920"/>
            <a:ext cx="54864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443630" y="2414016"/>
            <a:ext cx="64008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149901" y="2240280"/>
            <a:ext cx="365760" cy="347472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835701" y="1691640"/>
            <a:ext cx="45720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 flipV="1">
            <a:off x="5515661" y="1865376"/>
            <a:ext cx="32004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292901" y="1865376"/>
            <a:ext cx="374904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5835701" y="2240280"/>
            <a:ext cx="45720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515661" y="2414016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292901" y="2414016"/>
            <a:ext cx="37490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Text 35"/>
          <p:cNvSpPr txBox="1"/>
          <p:nvPr/>
        </p:nvSpPr>
        <p:spPr>
          <a:xfrm>
            <a:off x="5835701" y="2788920"/>
            <a:ext cx="457200" cy="347472"/>
          </a:xfrm>
          <a:prstGeom prst="roundRect">
            <a:avLst>
              <a:gd name="adj" fmla="val 13158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515661" y="2414016"/>
            <a:ext cx="32004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V="1">
            <a:off x="6292901" y="2414016"/>
            <a:ext cx="374904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Text 38"/>
          <p:cNvSpPr txBox="1"/>
          <p:nvPr/>
        </p:nvSpPr>
        <p:spPr>
          <a:xfrm>
            <a:off x="6667805" y="2240280"/>
            <a:ext cx="365760" cy="347472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983626" y="1691640"/>
            <a:ext cx="73152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459675" y="2743200"/>
            <a:ext cx="502920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 flipH="1">
            <a:off x="7711135" y="2103120"/>
            <a:ext cx="638251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5" name="Text 42"/>
          <p:cNvSpPr txBox="1"/>
          <p:nvPr/>
        </p:nvSpPr>
        <p:spPr>
          <a:xfrm>
            <a:off x="8099755" y="2743200"/>
            <a:ext cx="502920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349386" y="2103120"/>
            <a:ext cx="1829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Text 44"/>
          <p:cNvSpPr txBox="1"/>
          <p:nvPr/>
        </p:nvSpPr>
        <p:spPr>
          <a:xfrm>
            <a:off x="8739835" y="2743200"/>
            <a:ext cx="502920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8349386" y="2103120"/>
            <a:ext cx="641909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9" name="Text 46"/>
          <p:cNvSpPr txBox="1"/>
          <p:nvPr/>
        </p:nvSpPr>
        <p:spPr>
          <a:xfrm>
            <a:off x="9705442" y="2011680"/>
            <a:ext cx="64008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10848442" y="2011680"/>
            <a:ext cx="640080" cy="4572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10345522" y="2148840"/>
            <a:ext cx="502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 flipH="1">
            <a:off x="10345522" y="2377440"/>
            <a:ext cx="502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3" name="Text 50"/>
          <p:cNvSpPr txBox="1"/>
          <p:nvPr/>
        </p:nvSpPr>
        <p:spPr>
          <a:xfrm>
            <a:off x="10254082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feedback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 of thumb: add agents only when a simpler pattern cannot do the job.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Subagent design: coordinator plus specialists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103120" y="146304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Coordinator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Plans, delegates, merges results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2011680" cy="1143000"/>
          </a:xfrm>
          <a:prstGeom prst="roundRect">
            <a:avLst>
              <a:gd name="adj" fmla="val 64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Tools: web_search, fetch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1554480" y="2377440"/>
            <a:ext cx="2103120" cy="10058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926080" y="3383280"/>
            <a:ext cx="2011680" cy="1143000"/>
          </a:xfrm>
          <a:prstGeom prst="roundRect">
            <a:avLst>
              <a:gd name="adj" fmla="val 64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Analysis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Tools: read, run_code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0" y="2377440"/>
            <a:ext cx="274320" cy="10058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303520" y="3383280"/>
            <a:ext cx="2011680" cy="1143000"/>
          </a:xfrm>
          <a:prstGeom prst="roundRect">
            <a:avLst>
              <a:gd name="adj" fmla="val 64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Writer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Tools: none (text only)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2377440"/>
            <a:ext cx="2651760" cy="10058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task + the context it needs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846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subagent has its own context window. Only condensed, structured findings with sources flow back up.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80960" y="1417320"/>
            <a:ext cx="3959352" cy="4663440"/>
          </a:xfrm>
          <a:prstGeom prst="roundRect">
            <a:avLst>
              <a:gd name="adj" fmla="val 1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82128" y="1554480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Design rules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2057400"/>
            <a:ext cx="35570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Subagents start with fresh context: pass what they need explicitly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narrow role and a minimal tool set each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independent subagents in parallel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Return condensed results with sources (provenance)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 SDK: AgentDefinition. Claude Code: .claude/agents/*.md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Tool-calling sequences and control flow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Dependent: one call per turn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get_customer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48840" y="22860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423160" y="192024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get_orders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23360" y="22860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297680" y="192024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issue_refund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result is needed to build the next call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45352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Independent: parallel in one turn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45352" y="182880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Claude turn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 tool_use blocks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1737360"/>
            <a:ext cx="2130552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search_docs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 flipV="1">
            <a:off x="7982712" y="1965960"/>
            <a:ext cx="1527048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9509760" y="2331720"/>
            <a:ext cx="2130552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get_pricing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82712" y="2423160"/>
            <a:ext cx="1527048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9509760" y="2926080"/>
            <a:ext cx="2130552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check_stock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82712" y="2423160"/>
            <a:ext cx="1527048" cy="7315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245352" y="3474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Run concurrently, return all tool_results in one message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tool_choice: how much freedom Claude gets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34840"/>
            <a:ext cx="2635758" cy="1280160"/>
          </a:xfrm>
          <a:prstGeom prst="roundRect">
            <a:avLst>
              <a:gd name="adj" fmla="val 5714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decides whether to call a tool (default)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367278" y="4434840"/>
            <a:ext cx="2635758" cy="1280160"/>
          </a:xfrm>
          <a:prstGeom prst="roundRect">
            <a:avLst>
              <a:gd name="adj" fmla="val 5714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Must call one of the tools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185916" y="4434840"/>
            <a:ext cx="2635758" cy="1280160"/>
          </a:xfrm>
          <a:prstGeom prst="roundRect">
            <a:avLst>
              <a:gd name="adj" fmla="val 5714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Must call this specific tool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04554" y="4434840"/>
            <a:ext cx="2635758" cy="1280160"/>
          </a:xfrm>
          <a:prstGeom prst="roundRect">
            <a:avLst>
              <a:gd name="adj" fmla="val 5714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tool calls allowed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Forcing a tool with a schema is the basis of reliable structured output (Module 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Guardrails and reliability patterns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Input checks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Validate and sanitise requests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560320" y="2084832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816352" y="146304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Pre-tool hook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Allow, deny or modify the call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28032" y="2084832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084064" y="146304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Tool sandbox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Least privilege, timeouts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95744" y="2084832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351776" y="146304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Output checks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Schema and policy validation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63456" y="2084832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619488" y="146304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Human approval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 irreversible actions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Reliability patterns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5478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Retries with backoff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98678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Transient 429/5xx only, exponential delay + jitter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064" y="338328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3232" y="35478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Iteration and budget caps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23232" y="398678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 turns, max tokens, max spend per task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5488" y="338328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6656" y="35478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Checkpoint and resume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96656" y="398678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Persist state so long runs can recover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96519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Idempotency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40410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Keys on side-effecting tools so retries are safe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22064" y="480060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3232" y="496519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Circuit breaker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23232" y="540410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calling a tool that keeps failing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95488" y="4800600"/>
            <a:ext cx="3544824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96656" y="496519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Human in the loop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296656" y="5404104"/>
            <a:ext cx="314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Pause for approval before irreversible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Hooks: deterministic control points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087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prompt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1920240"/>
            <a:ext cx="5943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880360" y="15087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Claude plans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17720" y="1920240"/>
            <a:ext cx="5943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212080" y="15087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Tool call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1920240"/>
            <a:ext cx="5943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543800" y="15087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 result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281160" y="1920240"/>
            <a:ext cx="5943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875520" y="15087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Finish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7734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UserPromptSubmit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V="1">
            <a:off x="2583180" y="1965960"/>
            <a:ext cx="0" cy="9601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390906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PreToolUse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flipV="1">
            <a:off x="4914900" y="1965960"/>
            <a:ext cx="0" cy="9601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24078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PostToolUse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 flipV="1">
            <a:off x="7246620" y="1965960"/>
            <a:ext cx="0" cy="9601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955548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 flipV="1">
            <a:off x="10561320" y="2331720"/>
            <a:ext cx="0" cy="5943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548640" y="3749040"/>
            <a:ext cx="354482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91363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PreToolUse: gate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4352544"/>
            <a:ext cx="314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Block writes to .env or rm -rf, enforce refund limits, require approval.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322064" y="3749040"/>
            <a:ext cx="354482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3232" y="391363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PostToolUse: react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523232" y="4352544"/>
            <a:ext cx="314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Auto-format after Edit, run linters, log every call for audit.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095488" y="3749040"/>
            <a:ext cx="354482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6656" y="391363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Stop: verify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96656" y="4352544"/>
            <a:ext cx="314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Refuse to finish until tests pass; push the agent to keep going.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Prompts suggest. Hooks guarantee.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Claude Agent SDK in production architectures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434840" y="292608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Agent SDK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Agent loop, context handling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Built-in tools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Read, Edit, Bash, Grep, WebSearch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840480" y="2011680"/>
            <a:ext cx="594360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97180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MCP servers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External tools and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3566160"/>
            <a:ext cx="594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52628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Subagents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AgentDefinition: scoped roles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flipV="1">
            <a:off x="3840480" y="3566160"/>
            <a:ext cx="594360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48472" y="141732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Hooks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PreToolUse, PostToolUse, Stop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 flipH="1">
            <a:off x="7726680" y="2011680"/>
            <a:ext cx="621792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48472" y="297180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Permissions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Allowed/disallowed tools, modes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H="1">
            <a:off x="7726680" y="3566160"/>
            <a:ext cx="6217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48472" y="452628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Resume, fork, persist state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flipH="1" flipV="1">
            <a:off x="7726680" y="3566160"/>
            <a:ext cx="621792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Production: sandbox the runtime, cap turns and spend, log every tool call, handle errors and resume.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Labs 1–2: orchestrated agent with guardrails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request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194560" y="1417320"/>
            <a:ext cx="4846320" cy="46634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237744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Guardrails: hooks, permissions, max turns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2011680"/>
            <a:ext cx="3108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Coordinator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plan, delegate, merge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52044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Researcher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 tools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352044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tools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4983480"/>
            <a:ext cx="4389120" cy="731520"/>
          </a:xfrm>
          <a:prstGeom prst="roundRect">
            <a:avLst>
              <a:gd name="adj" fmla="val 10000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Tools (MCP + built-in)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 flipV="1">
            <a:off x="1828800" y="2468880"/>
            <a:ext cx="1234440" cy="8229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429000" y="2880360"/>
            <a:ext cx="594360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212080" y="2880360"/>
            <a:ext cx="594360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29000" y="4389120"/>
            <a:ext cx="0" cy="5943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06440" y="4389120"/>
            <a:ext cx="0" cy="5943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315200" y="141732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16368" y="15544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Lab 1: design an orchestrated agent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16368" y="201168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Decompose a request into subtasks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 coordinator and two subagents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Pass context explicitly and merge results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386334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16368" y="400050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Lab 2: add guardrails to the loop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16368" y="445770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 turns and set a budget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Block risky calls with a PreToolUse hook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Require approval for irreversible actions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1: key takeaways and exam traps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to avoid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loop is driven by stop_reason, never by parsing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Orchestrators delegate; subagents get isolated context and narrow tools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24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hooks and permissions for rules that must never break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 iterations, retry transient errors, approve irreversible actions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21214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Relying on prompt instructions alone for critical business rules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1636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17296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9732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Giving every subagent every tool and the whole history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4516" y="42245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9732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Adding multi-agent complexity where a chain would do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7608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9732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Unbounded loops with no max-turn or budget limit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Tool Design &amp; MCP Integration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~18% of exam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IN THIS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87452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Designing effective tool schemas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Diagnosing broken tool descriptions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MCP architecture and transports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SSE versus other transports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Authentication and security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Labs 3–4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 tool definition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400800" cy="4663440"/>
          </a:xfrm>
          <a:prstGeom prst="roundRect">
            <a:avLst>
              <a:gd name="adj" fmla="val 117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"get_order_status",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"Look up the status of ONE order by ID. 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 when the customer asks where an order 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"is. Do NOT use for refunds or history. 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"Returns status, carrier, ETA."),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{"order_id":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"string",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"description": "e.g. ORD-12345"}},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["order_id"]}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23760" y="1417320"/>
            <a:ext cx="441655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06640" y="17282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828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Short, unique, verb_noun: get_order_status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2606040"/>
            <a:ext cx="441655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9169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description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017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Purpose, when to use, when not to, what it returns: the main lever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3794760"/>
            <a:ext cx="441655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410565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input_schema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206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Types, enums, required fields, a description on each field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23760" y="4983480"/>
            <a:ext cx="441655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5294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Return value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3949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Concise, relevant fields, stable IDs, no noise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Diagnosing flawed tool schemas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474720"/>
                <a:gridCol w="4050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Symptom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fails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Vague name or description: "search", "Searches stuff"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Claude cannot tell when the tool applies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State purpose, when to use and not use, inputs, outputs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Overlapping tools: get_user, fetch_user, lookup_user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Claude picks inconsistently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Merge them, or differentiate sharply in the descriptions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Free-text parameters where an enum fits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Invalid or invented values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Enums, formats, a description on every field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20+ tools handed to one agent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Selection accuracy drops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Focused tool sets per agent; split across subagents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Errors that just say "Error"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agent cannot recover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Structured, actionable errors (next slide)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Structured error responses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Error category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29184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the agent should do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Transient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834640" y="21488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291840" y="178308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Retry with backoff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4320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34640" y="310896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291840" y="274320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 the input, retry once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Permission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34640" y="406908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291840" y="370332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Escalate to a human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6344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Not found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834640" y="502920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291840" y="466344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 it or try an alternative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1783080"/>
            <a:ext cx="4873752" cy="219456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"is_error": true,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"error_category": "validation",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"retryable": false,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"order_id must be ORD-#####",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"hint": "Confirm the ID with the user"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4251960"/>
            <a:ext cx="4873752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silent empty result looks like "no data". The agent cannot tell a failure from a real zero.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548640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Separate access failures from valid empty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MCP architecture: hosts, clients and servers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Host application (Claude Code, your agent app)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33832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Claude (LLM)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383280" cy="420624"/>
          </a:xfrm>
          <a:prstGeom prst="roundRect">
            <a:avLst>
              <a:gd name="adj" fmla="val 1739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MCP client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19272"/>
            <a:ext cx="3383280" cy="420624"/>
          </a:xfrm>
          <a:prstGeom prst="roundRect">
            <a:avLst>
              <a:gd name="adj" fmla="val 1739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MCP client 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9624"/>
            <a:ext cx="3383280" cy="420624"/>
          </a:xfrm>
          <a:prstGeom prst="roundRect">
            <a:avLst>
              <a:gd name="adj" fmla="val 1739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MCP client 3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46304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MCP server: Source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1554480"/>
            <a:ext cx="1673352" cy="64008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 hosting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418320" y="1874520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 flipV="1">
            <a:off x="4206240" y="1874520"/>
            <a:ext cx="2560320" cy="112471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766560" y="260604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MCP server: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+ resources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2697480"/>
            <a:ext cx="1673352" cy="64008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database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418320" y="3017520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4206240" y="3017520"/>
            <a:ext cx="2560320" cy="5120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766560" y="374904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MCP server: Internal API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+ prompts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3840480"/>
            <a:ext cx="1673352" cy="64008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service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418320" y="4160520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206240" y="4059936"/>
            <a:ext cx="2560320" cy="10058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45262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JSON-RPC 2.0 over a transport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9194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Tools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358384"/>
            <a:ext cx="314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Actions Claude can invoke. Model-controlled.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22064" y="475488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3232" y="49194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Resources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23232" y="5358384"/>
            <a:ext cx="314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Read-only data and context. Application-controlled.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95488" y="4754880"/>
            <a:ext cx="354482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96656" y="49194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Prompts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96656" y="5358384"/>
            <a:ext cx="314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Reusable templates. User-controlled.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MCP transports: stdio, Streamable HTTP, SSE</a:t>
            </a:r>
            <a:endParaRPr lang="en-US" sz="3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200400"/>
                <a:gridCol w="32278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stdio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Streamable HTTP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HTTP + SSE (legacy)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Local subprocess of the host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Remote server on one HTTP endpoint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Remote server with separate SSE and POST endpoints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Local dev tools, single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Shared, remote, multi-user services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Older remote servers kept for compatibility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Auth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Environment and OS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OAuth or bearer tokens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OAuth or bearer tokens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Scaling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process per client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Load-balanced; can be stateless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Long-lived connections are harder to scale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Recommended for remote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Deprecated: avoid for new servers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Choose by deployment: local means stdio, shared or remote means Streamable HTTP.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Securing production MCP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41732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554480" y="1965960"/>
            <a:ext cx="0" cy="3886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2971800" y="141732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 server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1965960"/>
            <a:ext cx="0" cy="3886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5349240" y="141732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MCP server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0" cy="3886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554480" y="2697480"/>
            <a:ext cx="47548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834640" y="240487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 Request, no token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H="1">
            <a:off x="1554480" y="3200400"/>
            <a:ext cx="47548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834640" y="290779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 401 + auth server info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554480" y="3703320"/>
            <a:ext cx="2377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1645920" y="341071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 OAuth 2.1 + PKCE, consent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flipH="1">
            <a:off x="1554480" y="4206240"/>
            <a:ext cx="2377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645920" y="391363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 Scoped access token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54480" y="4709160"/>
            <a:ext cx="47548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834640" y="441655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 Request + bearer token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H="1">
            <a:off x="1554480" y="5212080"/>
            <a:ext cx="47548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834640" y="4919472"/>
            <a:ext cx="21945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  Validate scope, return result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98080" y="1417320"/>
            <a:ext cx="4142232" cy="4663440"/>
          </a:xfrm>
          <a:prstGeom prst="roundRect">
            <a:avLst>
              <a:gd name="adj" fmla="val 176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99248" y="1554480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Production hardening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699248" y="2057400"/>
            <a:ext cx="37398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Least privilege: scope tokens and tools per role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pass user tokens through to downstream APIs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and sanitise every tool input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Treat tool results as untrusted (prompt injection)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Secrets in env vars or a vault, never in the repo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Audit-log and rate-limit every call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Vet and pin third-party servers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Configuring MCP in Claude Code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492240" cy="4663440"/>
          </a:xfrm>
          <a:prstGeom prst="roundRect">
            <a:avLst>
              <a:gd name="adj" fmla="val 117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"orders-api":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"http",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"url": "https://mcp.example.com/mcp",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"headers":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"Authorization": "Bearer ${ORDERS_TOKEN}"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"local-db":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"npx",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["-y", "@acme/db-mcp"],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"env": { "DB_URL": "${DB_URL}"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315200" y="1417320"/>
            <a:ext cx="432511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73736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508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Default. Private to you, this project only.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651760"/>
            <a:ext cx="432511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297180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project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.mcp.json in the repo. Shared with the team through git.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3886200"/>
            <a:ext cx="432511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4206240"/>
            <a:ext cx="10972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977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~/.claude.json. Yours, across all projects.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212080"/>
            <a:ext cx="4325112" cy="86868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orders-api \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https://mcp.example.com/mcp --scope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Labs 3–4: fix a schema, ship an MCP server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 prompts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874520" y="2468880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194560" y="20116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520440" y="2468880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840480" y="20116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MCP server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66360" y="2468880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486400" y="20116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 API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.mcp.json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stdio, then HTTP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420624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  <a:prstDash val="dash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Schema review loop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Names, descriptions, enums, errors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V="1">
            <a:off x="3749040" y="2926080"/>
            <a:ext cx="914400" cy="12801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 tool selection before and after each fix.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0" y="141732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16368" y="15544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Lab 3: fix a flawed tool schema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16368" y="201168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Review five tools with vague, overlapping descriptions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Rewrite names, descriptions, enums and errors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Re-run test prompts and compare selection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386334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16368" y="400050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Lab 4: stand up and integrate an MCP server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16368" y="445770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 small server exposing tools and a resource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Register it in .mcp.json; test over stdio, then HTTP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authentication and input validation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2: key takeaways and exam traps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to avoid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Description quality drives tool selection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Return structured errors the agent can act 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245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transport by deployment: stdio local, Streamable HTTP remote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Authenticate, scope, validate and audit every MCP server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21214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Vague or overlapping tool descriptions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1636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17296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9732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Dumping 20+ tools into one agent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4516" y="42245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9732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Choosing legacy SSE for a new remote server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7608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9732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Hard-coded secrets or passing user tokens through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Claude Code Configuration &amp; Workflows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~20% of exam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IN THIS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87452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CLAUDE.md hierarchy and project context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Slash commands, skills, hooks, permissions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Settings and secure configuration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CI/CD pipeline integration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AI-first workflows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Labs 5–6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CLAUDE.md hierarchy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85800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Managed policy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Org-wide, controlled by IT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468880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User: ~/.claude/CLAUDE.md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Personal, applies to every project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474720"/>
            <a:ext cx="521208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Project: ./CLAUDE.md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Shared with the team through git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4480560"/>
            <a:ext cx="438912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Subdirectory: src/api/CLAUDE.md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Loaded when Claude works in that folder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463040"/>
            <a:ext cx="0" cy="3749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5486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Broad  →  narrow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1417320"/>
            <a:ext cx="3867912" cy="46634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73568" y="1554480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How to use it well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73568" y="2057400"/>
            <a:ext cx="34655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file: team standards, versioned in git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file: personal preferences, never shared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Subdirectory files add local rules on demand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@imports and .claude/rules/ (path-scoped) to stay concise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 it short: every line costs context on every session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belongs in CLAUDE.md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309360" cy="4663440"/>
          </a:xfrm>
          <a:prstGeom prst="roundRect">
            <a:avLst>
              <a:gd name="adj" fmla="val 117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Project: Acme Orders API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Test: `pnpm test --filter api`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Lint: `pnpm lint` (must pass before commit)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TypeScript strict; no `any`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Return Result&lt;T, AppError&gt;; never throw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DB access only via src/db/repositories/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Workflow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Branch: feature/&lt;ticket&gt;; PRs need tests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Service map: @docs/architecture.md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2320" y="1417320"/>
            <a:ext cx="450799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33488" y="1581912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Put 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33488" y="2020824"/>
            <a:ext cx="4105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Build, test and lint commands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Conventions Claude cannot infer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Pointers to architecture docs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Gotchas and known traps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0" y="3886200"/>
            <a:ext cx="450799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33488" y="4050792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Keep out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88" y="4489704"/>
            <a:ext cx="4105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Secrets or credentials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docs (import them instead)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rules (use hooks and permissions)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Style a linter already enforces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Slash commands, skills and subagents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44824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8191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Slash commands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20824"/>
            <a:ext cx="314248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.claude/commands/review.md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Reusable prompt you run as /review 123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$ARGUMENTS passes input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Project or ~/.claude (personal)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22064" y="1417320"/>
            <a:ext cx="3544824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3232" y="158191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Skills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23232" y="2020824"/>
            <a:ext cx="314248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.claude/skills/&lt;name&gt;/SKILL.md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Loaded when the description matches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allowed-tools restricts what it can do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context: fork runs it in isolation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95488" y="1417320"/>
            <a:ext cx="3544824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96656" y="158191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Subagents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96656" y="2020824"/>
            <a:ext cx="314248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.claude/agents/&lt;name&gt;.md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Own context window and tool set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Own model and system prompt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Delegated for focused tasks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6766560" cy="1783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Review a PR for security issues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Read, Grep, Bash(gh pr diff:*)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PR $ARGUMENTS. Check authz, input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and secrets. List findings by priority.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97680"/>
            <a:ext cx="4050792" cy="1783080"/>
          </a:xfrm>
          <a:prstGeom prst="roundRect">
            <a:avLst>
              <a:gd name="adj" fmla="val 4103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Commands = prompts you invoke.  Skills = capabilities Claude loads when relevant.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Settings, permissions and precedence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Managed policy  (highest)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Command-line flags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 project: .claude/settings.local.json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Shared project: .claude/settings.json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User: ~/.claude/settings.json  (lowest)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flipV="1">
            <a:off x="6217920" y="1508760"/>
            <a:ext cx="0" cy="3931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98932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463040"/>
            <a:ext cx="4965192" cy="3840480"/>
          </a:xfrm>
          <a:prstGeom prst="roundRect">
            <a:avLst>
              <a:gd name="adj" fmla="val 142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["Bash(npm test:*)", "Read(src/**)"],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"ask":   ["Bash(git push:*)"],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["Read(./.env)", "Bash(rm -rf:*)"]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"hooks": { "PostToolUse": [{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"matcher": "Edit|Write",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"hooks": [{ "type": "command",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"npx prettier --write" }]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54406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allow, ask and deny rules + hooks live in settings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Plan mode and iterative refinement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 mode, read-only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560320" y="201168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816352" y="14630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plan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You approve or redirect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28032" y="201168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084064" y="14630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Execute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Make the changes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95744" y="201168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351776" y="14630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tests, lint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63456" y="201168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619488" y="146304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Refine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Feed back failures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625328" y="2560320"/>
            <a:ext cx="0" cy="3657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6089904" y="2926080"/>
            <a:ext cx="4535424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089904" y="2560320"/>
            <a:ext cx="0" cy="3657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384048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loop until checks pass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566160"/>
            <a:ext cx="354482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73075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Plan first when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169664"/>
            <a:ext cx="314248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Change spans many files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Code or domain is unfamiliar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Several valid designs exist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Requirements are ambiguous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22064" y="3566160"/>
            <a:ext cx="354482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3232" y="373075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Execute directly when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23232" y="4169664"/>
            <a:ext cx="314248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Scope is one clear change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typo, rename or small fix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Pattern already exists nearby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would be longer than diff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095488" y="3566160"/>
            <a:ext cx="354482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96656" y="373075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Refine with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96656" y="4169664"/>
            <a:ext cx="314248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Concrete input/output examples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failing test to fix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Screenshots or error text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follow-up prompts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Claude Code in CI/CD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Pull request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68880" y="196596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834640" y="146304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 runner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96596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120640" y="146304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claude -p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40880" y="196596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406640" y="146304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JSON result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326880" y="196596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692640" y="146304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Comment / gate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834640"/>
            <a:ext cx="6766560" cy="155448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-p "Review this diff for security issues"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--output-format json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--allowedTools "Read,Grep,Bash(git diff:*)"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--max-turns 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72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-p runs headless: no prompts, no interaction. Parse the JSON, then post a PR comment or fail the check.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589520" y="2834640"/>
            <a:ext cx="4050792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90688" y="299923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CI best practices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90688" y="3438144"/>
            <a:ext cx="364845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Always -p (non-interactive)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Restrict tools; least privilege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Secrets from the CI store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Review in a fresh session, not the one that wrote the code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JSON output so a gate can 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AI-first workflows: synchronous or batch?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60320"/>
            <a:ext cx="32004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 anyone or anything blocked waiting for the result?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463040"/>
            <a:ext cx="3291840" cy="1371600"/>
          </a:xfrm>
          <a:prstGeom prst="roundRect">
            <a:avLst>
              <a:gd name="adj" fmla="val 5333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Yes: Messages API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Pre-merge checks, interactive help, agent loops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566160"/>
            <a:ext cx="3291840" cy="1371600"/>
          </a:xfrm>
          <a:prstGeom prst="roundRect">
            <a:avLst>
              <a:gd name="adj" fmla="val 5333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No: Message Batches API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Nightly sweeps, bulk classification, test backlog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 flipV="1">
            <a:off x="3749040" y="2148840"/>
            <a:ext cx="1371600" cy="685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749040" y="3566160"/>
            <a:ext cx="1371600" cy="685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02336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78240" y="1463040"/>
            <a:ext cx="2862072" cy="347472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79408" y="162763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Batch trade-offs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79408" y="2066544"/>
            <a:ext cx="245973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 50% lower cost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within 24 hours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multi-turn tool loops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 results by custom_id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Latency-sensitive or iterative work never goes in a batch.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Labs 5–6: configure Claude Code and wire up CI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492240" cy="4023360"/>
          </a:xfrm>
          <a:prstGeom prst="roundRect">
            <a:avLst>
              <a:gd name="adj" fmla="val 1364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.mcp.json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.claude/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settings.json   # permissions + hooks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commands/review.md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skills/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agents/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.github/workflows/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claude-review.yml   # claude -p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577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Target repository layout for the labs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0" y="141732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16368" y="15544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Lab 5: CLAUDE.md, hooks and permissions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16368" y="201168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Write a layered CLAUDE.md for a sample repo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allow/deny rules and a PostToolUse hook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 a custom /review command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86334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16368" y="400050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Lab 6: Claude Code in a CI pipeline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516368" y="445770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claude -p headless on a pull request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Restrict tools and parse JSON output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 findings and gate the build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3: key takeaways and exam traps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to avoid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CLAUDE.md is persistent context: layer it user, project, directory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Commands, skills and subagents package repeatable workflows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245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Permissions and hooks enforce what prompts only suggest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CI run headless with -p, restricted tools and JSON output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21214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Running Claude Code interactively (no -p) in a pipeline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1636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17296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9732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Putting personal preferences in the shared project file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4516" y="42245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9732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Trusting CLAUDE.md for rules that must never be broken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7608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9732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bloated CLAUDE.md instead of imports and rules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Prompt Engineering &amp; Structured Output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~20% of exam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IN THIS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87452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JSON schema enforcement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Few-shot techniques for production prompts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Validation and retry loops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Programmatic enforcement vs prompt guidance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 7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Getting reliable structured output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976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Prompt for JSON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Cheapest. No guarantee: stray prose, missing fields.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355848" y="3566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Examples + prefill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Few-shot and prefill raise consistency, still unenforced.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63056" y="283464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Tool use + schema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 extraction as a tool and force it with tool_choice.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0264" y="210312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Structured outputs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Schema-enforced responses where supported. Strongest shape guarantee.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more guarantees, more constraint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7778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schema guarantees shape, not truth. Still validate content.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Schema design for extraction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6583680" cy="4663440"/>
          </a:xfrm>
          <a:prstGeom prst="roundRect">
            <a:avLst>
              <a:gd name="adj" fmla="val 117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"vendor": {"type": "string"},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"total": {"type": ["number", "null"]},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"currency": {"enum": ["USD","EUR","INR","other"]},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"currency_other": {"type": ["string","null"]},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{"enum": ["high","medium","low"]}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["vendor","total","currency",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"confidence"]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406640" y="1417320"/>
            <a:ext cx="4233672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655064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19872" y="1472184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Nullable fields for data that may be absent: no invented values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2368296"/>
            <a:ext cx="4233672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6060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19872" y="2423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Enum plus "other" and a detail field for open categories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3319272"/>
            <a:ext cx="4233672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557016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19872" y="337413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Describe every field inside the schema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06640" y="4270248"/>
            <a:ext cx="4233672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45079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325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structures flat and simple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640" y="5221224"/>
            <a:ext cx="4233672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545896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119872" y="527608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confidence or evidence so low-certainty cases get reviewed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Few-shot prompting for production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 and task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you are extracting and why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33472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Rules and output format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Schema, null policy, tone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03904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&lt;examples&gt;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3–5 varied cases, edge cases included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74336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&lt;document&gt;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input to process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239512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01968" y="155448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Making examples work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01968" y="2057400"/>
            <a:ext cx="48371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 variety: typical, edge and ambiguous cases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 the output format identical across examples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XML tags to separate examples from inputs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Include a "no data found" example to prevent invention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on held-out samples: unrepresentative examples bias results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Validation and retry loops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Document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16459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Extract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tool + schema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6459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schema + rules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6459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Accept and store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86000" y="21488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937760" y="21488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589520" y="21488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754380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2651760"/>
            <a:ext cx="0" cy="10058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58368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invalid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36576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 errors back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failed output + exact errors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flipH="1">
            <a:off x="3840480" y="4160520"/>
            <a:ext cx="1554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3840480" y="2651760"/>
            <a:ext cx="0" cy="15087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93192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retry (max 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589520" y="416052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8412480" y="36576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Human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retries exhausted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0749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Feed back the specific validation errors with the failed output.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31636" y="50749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Retries fix format and logic slips, not information missing from the source.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Programmatic enforcement vs prompt-based guidance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08676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81912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Prompt-based guidance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20824"/>
            <a:ext cx="50063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"Always include the order ID"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"Never refund more than $500"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Style, tone, judgement calls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Usually works, not guaranteed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31636" y="1417320"/>
            <a:ext cx="5408676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2804" y="1581912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Programmatic enforcement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32804" y="2020824"/>
            <a:ext cx="50063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JSON schemas and validators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PreToolUse hooks and permission rules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Prerequisite gates in code</a:t>
            </a:r>
            <a:endParaRPr lang="en-US" sz="17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Works every time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6634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Prompts for judgement and style.  Code for guarantees.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failure costs money, trust or safety, enforce it in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 7: schema-enforced extraction with retries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Documents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874520" y="2258568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19456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520440" y="2258568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84048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66360" y="2258568"/>
            <a:ext cx="320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48640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2697480"/>
            <a:ext cx="0" cy="8686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194560" y="356616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Retry with errors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capped at 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H="1">
            <a:off x="1188720" y="3977640"/>
            <a:ext cx="10058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 flipV="1">
            <a:off x="1188720" y="2697480"/>
            <a:ext cx="0" cy="1280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754880" y="356616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queue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06240" y="3995928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4864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Measure: schema-valid rate, field accuracy, retry rate.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0" y="141732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16368" y="15544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Lab 7: build the pipeline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516368" y="201168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Define a nullable, enum-rich extraction schema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Force it with tool_choice and few-shot examples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Validate, retry with errors, route failures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15200" y="386334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16368" y="400050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You will measure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516368" y="445770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Schema-valid rate before and after retries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Field-level accuracy on a labelled sample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many documents reach human 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4: key takeaways and exam traps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to avoid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Force structure with tool schemas or structured outputs, not prompt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schemas with nullable fields, enum plus other, and confidence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2452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Validate, feed errors back, cap retries, route failures to review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code for guarantees and prompts for judgement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21214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Asking nicely for JSON and parsing it with regex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1636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17296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9732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Required fields for data that may not exist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4516" y="42245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9732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Endless retries when the source lacks the information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7608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9732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Enforcing hard business rules with prompt wording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926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Context Management &amp; Reliability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~15% of exam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IN THIS MODULE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87452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CALM framework for context management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Prompt caching with cache_control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Conversation compaction and long context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Token estimation and budgets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Confidence calibration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Lab 8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Context windows and token economics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fills the context window (illustrative)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1463040" cy="100584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prompt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1874520"/>
            <a:ext cx="1737360" cy="10058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Tool definitions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874520"/>
            <a:ext cx="3108960" cy="1005840"/>
          </a:xfrm>
          <a:prstGeom prst="roundRect">
            <a:avLst>
              <a:gd name="adj" fmla="val 363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Conversation history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874520"/>
            <a:ext cx="3474720" cy="100584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Tool results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1874520"/>
            <a:ext cx="1307592" cy="100584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Output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3154680"/>
            <a:ext cx="4023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630936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grows every turn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332720" y="301752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reserve for max_tokens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40050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Everything is re-sent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4443984"/>
            <a:ext cx="3142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call carries the full prompt, tools and history. Cost and latency rise with every turn.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22064" y="3840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3232" y="40050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 results dominate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23232" y="4443984"/>
            <a:ext cx="3142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Large tool outputs are usually the biggest and easiest thing to trim or clear.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95488" y="3840480"/>
            <a:ext cx="3544824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96656" y="4005072"/>
            <a:ext cx="314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fades early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96656" y="4443984"/>
            <a:ext cx="3142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Long contexts degrade before the limit: relevant details get lost in the noise.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CALM framework for context management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35758" cy="301752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2763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162763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Keep what matters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94560"/>
            <a:ext cx="223342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Concise system prompt, only relevant tools, retrieve just in time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7278" y="1463040"/>
            <a:ext cx="2635758" cy="301752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62763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117086" y="162763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Cache what is stable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68446" y="2194560"/>
            <a:ext cx="223342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Prompt caching on tools, system prompt, reference docs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85916" y="1463040"/>
            <a:ext cx="2635758" cy="301752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162763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935724" y="162763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Compact what is old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87084" y="2194560"/>
            <a:ext cx="223342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Summarise history, clear stale tool results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04554" y="1463040"/>
            <a:ext cx="2635758" cy="301752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87434" y="162763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54362" y="162763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 what is left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205722" y="2194560"/>
            <a:ext cx="223342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Estimate tokens, set limits, reserve output space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3776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 tokens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560320" y="534924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816352" y="493776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Trim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828032" y="534924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084064" y="493776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Cache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095744" y="534924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7351776" y="493776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Compact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363456" y="5349240"/>
            <a:ext cx="25603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9619488" y="493776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quality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this loop whenever sessions get long or costs climb.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Prompt caching with cache_control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212848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prompt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877056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Messages so far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41264" y="19202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 turn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557016" y="2880360"/>
            <a:ext cx="1371600" cy="36576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cache_control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4882896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identical prefix: cache hit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74720"/>
            <a:ext cx="6583680" cy="155448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system=[{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"text",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LONG_POLICY_DOC,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"cache_control": {"type": "ephemeral"}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 to 4 breakpoints per request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Minimum cacheable length applies (model-dependent)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Changing anything before a breakpoint invalidates it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1371600"/>
          <a:ext cx="414223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7498080" y="548640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Pricing multipliers: check the current price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Compaction and long-context strategies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Before: near the limit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828800"/>
            <a:ext cx="594360" cy="731520"/>
          </a:xfrm>
          <a:prstGeom prst="roundRect">
            <a:avLst>
              <a:gd name="adj" fmla="val 6154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194560"/>
            <a:ext cx="9144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6692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compact at ~80%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After: room to work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1828800"/>
            <a:ext cx="1097280" cy="731520"/>
          </a:xfrm>
          <a:prstGeom prst="roundRect">
            <a:avLst>
              <a:gd name="adj" fmla="val 5000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System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1828800"/>
            <a:ext cx="1463040" cy="73152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1828800"/>
            <a:ext cx="1947672" cy="731520"/>
          </a:xfrm>
          <a:prstGeom prst="roundRect">
            <a:avLst>
              <a:gd name="adj" fmla="val 5000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Recent turns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246120"/>
            <a:ext cx="2635758" cy="283464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4107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98448" y="341071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Compaction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3977640"/>
            <a:ext cx="223342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Summarise older turns; keep decisions, tasks, facts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67278" y="3246120"/>
            <a:ext cx="2635758" cy="283464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0158" y="34107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117086" y="341071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 editing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568446" y="3977640"/>
            <a:ext cx="223342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Clear stale tool results and old thinking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85916" y="3246120"/>
            <a:ext cx="2635758" cy="283464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68796" y="34107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35724" y="341071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External memory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87084" y="3977640"/>
            <a:ext cx="223342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Notes files or a memory tool outside the window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004554" y="3246120"/>
            <a:ext cx="2635758" cy="2834640"/>
          </a:xfrm>
          <a:prstGeom prst="roundRect">
            <a:avLst>
              <a:gd name="adj" fmla="val 27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7434" y="34107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754362" y="3410712"/>
            <a:ext cx="17213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Isolation + retrieval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205722" y="3977640"/>
            <a:ext cx="223342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Subagents with fresh context; fetch only what is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Token estimation and budget management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Estimate: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count tokens before sending large or tool-heavy requests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Track: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usage on every response (input, output, cache reads and writes)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Budget: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set limits per task and per session; reserve room for max_tokens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Act: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a threshold, trim, compact or stop with a clear message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Rule of thumb: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about 3–4 characters per token in English; measure for code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463040"/>
            <a:ext cx="5056632" cy="3657600"/>
          </a:xfrm>
          <a:prstGeom prst="roundRect">
            <a:avLst>
              <a:gd name="adj" fmla="val 1500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client.messages.count_tokens(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system=SYSTEM,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tools=TOOLS, messages=messages)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n.input_tokens &gt; 0.8 * WINDOW: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compact(messages)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resp.usage   # per-call accounting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log(u.input_tokens, u.output_tokens,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u.cache_read_input_tokens)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5349240"/>
            <a:ext cx="5056632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Compact at a threshold, before the call fails.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Reliability and confidence calibration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failure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30352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429, 529, 5xx errors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260604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880360"/>
            <a:ext cx="5303520" cy="777240"/>
          </a:xfrm>
          <a:prstGeom prst="roundRect">
            <a:avLst>
              <a:gd name="adj" fmla="val 9412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Retry: exponential backoff + jitter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0" y="365760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3931920"/>
            <a:ext cx="5303520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Circuit breaker after N failures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548640" y="4983480"/>
            <a:ext cx="530352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Idempotency key on every write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uncertainty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828800"/>
            <a:ext cx="5239512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 + confidence + evidence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structured output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06324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3063240"/>
            <a:ext cx="3776472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Auto-process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89520" y="342900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6400800" y="406908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Medium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4069080"/>
            <a:ext cx="37764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 with a second check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589520" y="443484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6400800" y="507492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Low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074920"/>
            <a:ext cx="3776472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89520" y="5440680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15984" y="269748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914400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route by confidence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598932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Calibrate thresholds against labelled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Lab 8: caching and compaction in a long chat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Long-running conversation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38328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Cached prefix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+ system + docs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34640" y="210312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320040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Count tokens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320040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 threshold?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34640" y="3566160"/>
            <a:ext cx="548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691640" y="2560320"/>
            <a:ext cx="0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383280" y="457200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Compact history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3931920"/>
            <a:ext cx="0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61772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 flipH="1">
            <a:off x="1691640" y="4937760"/>
            <a:ext cx="16916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1691640" y="3931920"/>
            <a:ext cx="0" cy="100584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4864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Watch cache_read_input_tokens rise as the prefix is reused.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0" y="141732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16368" y="15544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Lab 8: build and measure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16368" y="201168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cache_control to tools, system prompt and docs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Trigger compaction at a token threshold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cost and latency before and after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0" y="3863340"/>
            <a:ext cx="4325112" cy="2217420"/>
          </a:xfrm>
          <a:prstGeom prst="roundRect">
            <a:avLst>
              <a:gd name="adj" fmla="val 3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16368" y="400050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will measure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516368" y="4457700"/>
            <a:ext cx="392277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Cache hit rate across a 20-turn session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Tokens saved by compaction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Answer quality before and after compaction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5: key takeaways and exam traps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31636" y="132588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 to avoid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Context is a budget: measure it, trim it, spend it on purpose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Cache stable prefixes; keep dynamic content last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245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Compact or clear stale content before quality degrades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 off on transient errors; route low confidence to humans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18745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21214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192938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Changing the cached prefix each call, such as a timestamp up front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31636" y="292608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17296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9732" y="298094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Letting history grow until the call fails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4516" y="42245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9732" y="403250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Trusting self-reported confidence without calibration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502920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527608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9732" y="5084064"/>
            <a:ext cx="44577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Blindly retrying non-idempotent actions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 strategy: think like an architect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81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15819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Find the real constraint first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488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Latency, cost, safety or compliance usually decides the answer.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1636" y="14173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4516" y="15819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81444" y="15819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Prefer the simplest fix that works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32804" y="21488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Eliminate options that add complexity without fixing the root cause.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182112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1821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Enforce critical rules in code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7490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Hooks, schemas, validators and permissions beat prompt wording.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31636" y="30175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4516" y="3182112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81444" y="31821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Scope tools and context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32804" y="37490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Few focused tools per agent; pass subagents only what they need.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7823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7823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Spend study time by weight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3492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27 / 20 / 20 / 18 / 15: Domain 1 gets the most attention.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31636" y="4617720"/>
            <a:ext cx="540867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4782312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81444" y="4782312"/>
            <a:ext cx="4494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Know the CI and caching traps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32804" y="5349240"/>
            <a:ext cx="5006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Headless -p in CI; stable cached prefix with dynamic content last.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Anti-pattern cheat sheet</a:t>
            </a:r>
            <a:endParaRPr lang="en-US" sz="3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5029200"/>
                <a:gridCol w="1307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Anti-pattern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Better approach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Domain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Prompt-only enforcement of critical rules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Hooks, validators, permission rules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1, 4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One agent with every tool and full history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Subagents, narrow tools, explicit context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1, 2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Vague, overlapping tool descriptions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Clear purpose, when-not-to-use, enums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Interactive Claude Code in CI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claude -p, JSON output, restricted tools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Free-form JSON parsed with regex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Tool schema, validation, capped retries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Unbounded history, cache-busting prefix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Compaction, stable prefix, token budgets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Retrying everything blindly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Backoff for transient errors, idempotency, escalation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1, 5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Hands-on labs: the road ahead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4592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164592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Design an orchestrated multi-step agent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67278" y="146304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64592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93158" y="164592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50158" y="219456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guardrails to an agent loop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85916" y="146304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164592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11796" y="164592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68796" y="219456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 a flawed tool schema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004554" y="146304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87434" y="164592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330434" y="164592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87434" y="219456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Stand up and integrate an MCP server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79476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874520" y="379476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34340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Configure CLAUDE.md, hooks, permissions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367278" y="361188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50158" y="379476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693158" y="379476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550158" y="434340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Integrate Claude Code into a CI pipeline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185916" y="361188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8796" y="379476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Lab 7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11796" y="379476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4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68796" y="434340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Schema-enforced extraction with retries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004554" y="3611880"/>
            <a:ext cx="26357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87434" y="3794760"/>
            <a:ext cx="100584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 8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330434" y="3794760"/>
            <a:ext cx="1172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187434" y="4343400"/>
            <a:ext cx="22699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Caching and compaction for a long conversation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Day 1: Labs 1–4   ·   Day 2: Labs 5–7   ·   Day 3: Lab 8 + exam practice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RECAP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Questions and next steps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Lab guides, practice scenarios and exam registration come next.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89720" y="1051560"/>
            <a:ext cx="1005840" cy="10058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897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469880" y="2240280"/>
            <a:ext cx="1005840" cy="10058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6988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829800" y="3611880"/>
            <a:ext cx="1005840" cy="10058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29800" y="3611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92440" y="3154680"/>
            <a:ext cx="1005840" cy="10058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26680" y="1874520"/>
            <a:ext cx="1005840" cy="10058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A Foundations">
  <a:themeElements>
    <a:clrScheme name="CCA Foundations">
      <a:dk1>
        <a:srgbClr val="1F1B18"/>
      </a:dk1>
      <a:lt1>
        <a:srgbClr val="FFFFFF"/>
      </a:lt1>
      <a:dk2>
        <a:srgbClr val="5A524B"/>
      </a:dk2>
      <a:lt2>
        <a:srgbClr val="F1F2F4"/>
      </a:lt2>
      <a:accent1>
        <a:srgbClr val="C4552D"/>
      </a:accent1>
      <a:accent2>
        <a:srgbClr val="2A6F77"/>
      </a:accent2>
      <a:accent3>
        <a:srgbClr val="E0A030"/>
      </a:accent3>
      <a:accent4>
        <a:srgbClr val="4F5FA8"/>
      </a:accent4>
      <a:accent5>
        <a:srgbClr val="6B8A3A"/>
      </a:accent5>
      <a:accent6>
        <a:srgbClr val="8A8178"/>
      </a:accent6>
      <a:hlink>
        <a:srgbClr val="2A6F77"/>
      </a:hlink>
      <a:folHlink>
        <a:srgbClr val="8A8178"/>
      </a:folHlink>
    </a:clrScheme>
    <a:fontScheme name="CCA Foundatio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Certified Architect – Foundations: Training Deck</dc:title>
  <dc:subject>PptxGenJS Presentation</dc:subject>
  <dc:creator>Instructor</dc:creator>
  <cp:lastModifiedBy>Instructor</cp:lastModifiedBy>
  <cp:revision>1</cp:revision>
  <dcterms:created xsi:type="dcterms:W3CDTF">2026-10-10T09:47:46Z</dcterms:created>
  <dcterms:modified xsi:type="dcterms:W3CDTF">2026-10-10T09:47:46Z</dcterms:modified>
</cp:coreProperties>
</file>